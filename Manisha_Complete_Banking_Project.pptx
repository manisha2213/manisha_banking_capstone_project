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4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-19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10-Dec-25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104" y="1007165"/>
            <a:ext cx="8229600" cy="585083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Modern banks generate huge volumes of data from ATMs, UPI transactions, mobile banking, and core banking systems, creating the need for a unified and scalable cloud-based data platform.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Traditional legacy systems cannot efficiently handle real-time transactions, advanced analytics, or increasing data volume, leading to performance issues and limiting the bank’s ability to make fast decisions.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This project builds an end-to-end Banking Data Platform on Azure to process both real-time and batch workloads, ensuring high reliability, automation, and seamless data flow across all banking channels.</a:t>
            </a:r>
          </a:p>
          <a:p>
            <a:endParaRPr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INTRODUCTION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2600" dirty="0" smtClean="0"/>
              <a:t>Develop a unified cloud-based platform that centralizes data from various banking channels such as ATM, UPI, and mobile banking.</a:t>
            </a:r>
          </a:p>
          <a:p>
            <a:pPr algn="just">
              <a:lnSpc>
                <a:spcPct val="160000"/>
              </a:lnSpc>
            </a:pPr>
            <a:r>
              <a:rPr lang="en-US" sz="2600" dirty="0" smtClean="0"/>
              <a:t>Enable real-time fraud detection through event-driven processing using Azure Functions and Cosmos DB.</a:t>
            </a:r>
          </a:p>
          <a:p>
            <a:pPr algn="just">
              <a:lnSpc>
                <a:spcPct val="160000"/>
              </a:lnSpc>
            </a:pPr>
            <a:r>
              <a:rPr lang="en-US" sz="2600" dirty="0" smtClean="0"/>
              <a:t>Implement a Customer 360 model to provide deeper insights into customer behavior, spending patterns, and risk profile.</a:t>
            </a:r>
          </a:p>
          <a:p>
            <a:pPr algn="just">
              <a:lnSpc>
                <a:spcPct val="160000"/>
              </a:lnSpc>
            </a:pPr>
            <a:r>
              <a:rPr lang="en-US" sz="2600" dirty="0" smtClean="0"/>
              <a:t>Improve data quality, processing speed, and operational efficiency through automated ETL pipelines using </a:t>
            </a:r>
            <a:r>
              <a:rPr lang="en-US" sz="2600" dirty="0" err="1" smtClean="0"/>
              <a:t>PySpark</a:t>
            </a:r>
            <a:r>
              <a:rPr lang="en-US" sz="2600" dirty="0" smtClean="0"/>
              <a:t>.</a:t>
            </a:r>
          </a:p>
          <a:p>
            <a:pPr>
              <a:lnSpc>
                <a:spcPct val="160000"/>
              </a:lnSpc>
              <a:buNone/>
            </a:pPr>
            <a:endParaRPr sz="19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Implement scalable ingestion pipelines for real-time and batch data across all banking channels.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Build automated ETL pipelines using Python and </a:t>
            </a:r>
            <a:r>
              <a:rPr lang="en-US" sz="2000" dirty="0" err="1" smtClean="0"/>
              <a:t>PySpark</a:t>
            </a:r>
            <a:r>
              <a:rPr lang="en-US" sz="2000" dirty="0" smtClean="0"/>
              <a:t> for consistent and high-quality data processing.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Develop a centralized enterprise Data Warehouse for advanced analytics and regulatory reporting.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Automate deployments using CI/CD pipelines to reduce manual work and ensure reliable releases.</a:t>
            </a:r>
          </a:p>
          <a:p>
            <a:pPr>
              <a:buNone/>
            </a:pPr>
            <a:endParaRPr sz="29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Primary Goals 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2400" dirty="0" smtClean="0"/>
              <a:t>The architecture combines real-time stream processing and batch processing using Azure Event Grid, Functions, and Data Lake Storage.</a:t>
            </a:r>
          </a:p>
          <a:p>
            <a:pPr algn="just">
              <a:lnSpc>
                <a:spcPct val="160000"/>
              </a:lnSpc>
            </a:pPr>
            <a:r>
              <a:rPr lang="en-US" sz="2400" dirty="0" smtClean="0"/>
              <a:t>ADLS Gen2 serves as the main storage layer for raw, cleaned, and </a:t>
            </a:r>
            <a:r>
              <a:rPr lang="en-US" sz="2400" dirty="0" err="1" smtClean="0"/>
              <a:t>curated</a:t>
            </a:r>
            <a:r>
              <a:rPr lang="en-US" sz="2400" dirty="0" smtClean="0"/>
              <a:t> datasets across the pipeline.</a:t>
            </a:r>
          </a:p>
          <a:p>
            <a:pPr algn="just">
              <a:lnSpc>
                <a:spcPct val="160000"/>
              </a:lnSpc>
            </a:pPr>
            <a:r>
              <a:rPr lang="en-US" sz="2400" dirty="0" smtClean="0"/>
              <a:t>Cosmos DB acts as the operational store for high-speed transactional and fraud-related data.</a:t>
            </a:r>
          </a:p>
          <a:p>
            <a:pPr algn="just">
              <a:lnSpc>
                <a:spcPct val="160000"/>
              </a:lnSpc>
            </a:pPr>
            <a:r>
              <a:rPr lang="en-US" sz="2400" dirty="0" err="1" smtClean="0"/>
              <a:t>PySpark</a:t>
            </a:r>
            <a:r>
              <a:rPr lang="en-US" sz="2400" dirty="0" smtClean="0"/>
              <a:t>/</a:t>
            </a:r>
            <a:r>
              <a:rPr lang="en-US" sz="2400" dirty="0" err="1" smtClean="0"/>
              <a:t>Databricks</a:t>
            </a:r>
            <a:r>
              <a:rPr lang="en-US" sz="2400" dirty="0" smtClean="0"/>
              <a:t> is used for large-scale data transformation, cleaning, and enrichment.</a:t>
            </a:r>
          </a:p>
          <a:p>
            <a:pPr algn="just">
              <a:lnSpc>
                <a:spcPct val="160000"/>
              </a:lnSpc>
            </a:pPr>
            <a:r>
              <a:rPr lang="en-US" sz="2400" dirty="0" smtClean="0"/>
              <a:t>SQL Data Warehouse provides enterprise-grade analytical capabilities, which are consumed through Power BI dashboards.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Overview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117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8000" dirty="0" smtClean="0"/>
              <a:t>ATM withdrawal logs provide transaction-level insights from physical machines.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UPI debit/credit transactions deliver high-speed digital payment activity.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Mobile banking logs supply behavioral and authentication activity data.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Core banking extract files include account details, balances, and customer master data.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KYC and demographic documents provide identity verification and profile enrichment.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Account master updates track account status, closures, changes, and risk indicators.</a:t>
            </a:r>
          </a:p>
          <a:p>
            <a:pPr>
              <a:lnSpc>
                <a:spcPct val="170000"/>
              </a:lnSpc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Source Systems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Event Grid automatically detects new files and events from ATM, UPI, or batch folders and triggers </a:t>
            </a:r>
            <a:r>
              <a:rPr lang="en-US" sz="2000" dirty="0" err="1" smtClean="0"/>
              <a:t>serverless</a:t>
            </a:r>
            <a:r>
              <a:rPr lang="en-US" sz="2000" dirty="0" smtClean="0"/>
              <a:t> workflows.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Azure Functions validate file size, metadata, structure, and security checks before any processing is performed.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Storage Queue enables asynchronous, scalable communication between ingestion processes to ensure reliability under heavy load.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Service Bus processes high-frequency UPI and ATM events in real time, guaranteeing message ordering and delivery.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Ingested data is written to ADLS Gen2 for batch pipelines and to Cosmos DB for real-time lookups and analytics.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Ingestion Layer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Developers create and test Function Apps locally in VS Code using the Azure Functions extension for Python.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Event Grid, Blob, and Queue triggers are validated locally to ensure correctness before deployment.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The Function App is published directly from VS Code to Azure using integrated deployment tools.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Managed Identity ensures secure access to ADLS, Cosmos DB, and Service Bus without storing credentials.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Application Insights provides end-to-end visibility into function performance, including latency, failures, and logs.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Function App Deployment 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974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8000" dirty="0" smtClean="0"/>
              <a:t>Cosmos DB stores all real-time ATM and UPI transactions with extremely low read/write latency for immediate analysis.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It serves as the central operational system for storing fraud alerts and customer activity records.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Partitioning strategies ensure scalability and even distribution of data across underlying storage.</a:t>
            </a:r>
          </a:p>
          <a:p>
            <a:pPr>
              <a:lnSpc>
                <a:spcPct val="170000"/>
              </a:lnSpc>
            </a:pPr>
            <a:r>
              <a:rPr lang="en-US" sz="8000" dirty="0" err="1" smtClean="0"/>
              <a:t>Databricks</a:t>
            </a:r>
            <a:r>
              <a:rPr lang="en-US" sz="8000" dirty="0" smtClean="0"/>
              <a:t> connects to Cosmos DB to merge operational data with batch datasets for advanced analytics.</a:t>
            </a:r>
          </a:p>
          <a:p>
            <a:pPr>
              <a:lnSpc>
                <a:spcPct val="170000"/>
              </a:lnSpc>
            </a:pPr>
            <a:r>
              <a:rPr lang="en-US" sz="8000" dirty="0" smtClean="0"/>
              <a:t>Real-time dashboards and API-based banking applications use Cosmos DB for instant lookups and reporting.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Cosmos DB as Operational Store 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 smtClean="0"/>
              <a:t>Databricks</a:t>
            </a:r>
            <a:r>
              <a:rPr lang="en-US" sz="2000" dirty="0" smtClean="0"/>
              <a:t> workspace is provisioned with secure networking, private links, and access controls for enterprise usage.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/>
              <a:t>Autoscaling</a:t>
            </a:r>
            <a:r>
              <a:rPr lang="en-US" sz="2000" dirty="0" smtClean="0"/>
              <a:t> clusters are created to handle dynamic workloads efficiently while optimizing cost.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Secret scopes are configured to securely store sensitive keys, service principal credentials, and connection information.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Necessary libraries such as delta-spark, </a:t>
            </a:r>
            <a:r>
              <a:rPr lang="en-US" sz="2000" dirty="0" err="1" smtClean="0"/>
              <a:t>PySpark</a:t>
            </a:r>
            <a:r>
              <a:rPr lang="en-US" sz="2000" dirty="0" smtClean="0"/>
              <a:t>, and Cosmos DB connectors are installed on clusters.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Connectivity tests ensure </a:t>
            </a:r>
            <a:r>
              <a:rPr lang="en-US" sz="2000" dirty="0" err="1" smtClean="0"/>
              <a:t>Databricks</a:t>
            </a:r>
            <a:r>
              <a:rPr lang="en-US" sz="2000" dirty="0" smtClean="0"/>
              <a:t> can read from ADLS and Cosmos DB before starting ETL development.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Databricks</a:t>
            </a:r>
            <a:r>
              <a:rPr lang="en-US" sz="4000" dirty="0" smtClean="0"/>
              <a:t> Setup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 smtClean="0"/>
              <a:t>Databricks</a:t>
            </a:r>
            <a:r>
              <a:rPr lang="en-US" sz="2000" dirty="0" smtClean="0"/>
              <a:t> reads raw data from ADLS and operational data from Cosmos DB to begin the transformation process.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/>
              <a:t>PySpark</a:t>
            </a:r>
            <a:r>
              <a:rPr lang="en-US" sz="2000" dirty="0" smtClean="0"/>
              <a:t> applies schema definitions, cleans invalid records, fixes formatting issues, and removes duplicates.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Business rules classify, enrich, and standardize ATM and UPI transaction events.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Master data such as customer, branch, and account details are joined to enrich the transactional dataset.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/>
              <a:t>Curated</a:t>
            </a:r>
            <a:r>
              <a:rPr lang="en-US" sz="2000" dirty="0" smtClean="0"/>
              <a:t> results are structured into Bronze, Silver, and Gold Delta tables for downstream reporting.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/>
              <a:t>PySpark Transformation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Bronze Layer stores raw data exactly as received, enabling replay, audit, and traceability.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Silver Layer applies business validation, quality rules, </a:t>
            </a:r>
            <a:r>
              <a:rPr lang="en-US" sz="2000" dirty="0" err="1" smtClean="0"/>
              <a:t>deduplication</a:t>
            </a:r>
            <a:r>
              <a:rPr lang="en-US" sz="2000" dirty="0" smtClean="0"/>
              <a:t>, and normalization for consistency.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Gold Layer prepares analytics-ready star schema datasets to power dashboards and compliance reporting.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Delta Lake ensures ACID transactions, schema evolution, and file compaction for reliable big data processing.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Time-travel features allow analysts to reproduce historical states of data for audits and investigations</a:t>
            </a:r>
            <a:r>
              <a:rPr lang="en-US" dirty="0" smtClean="0"/>
              <a:t>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Delta Lake Architecture 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Gold Delta tables are loaded into SQL Data Warehouse to enable high-performance analytical queries.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Star schema consists of fact tables for transactions, fraud events, and customer activity metrics.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Dimension tables such as Customer, Account, Branch, and Date use SCD Type-2 for historical tracking.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SQL DW provides massive parallel processing (MPP) to analyze large datasets efficiently.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Power BI connects directly to SQL DW for near real-time reporting and </a:t>
            </a:r>
            <a:r>
              <a:rPr lang="en-US" sz="2000" dirty="0" err="1" smtClean="0"/>
              <a:t>dashboarding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Data Warehouse 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Event Grid triggers a fraud detection function whenever high-risk or unusual transactions occur.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Azure Functions apply rule-based checks such as unusual locations, device changes, or rapid withdrawals.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Fraud alerts are written instantly to Cosmos DB for immediate review by the fraud team.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Service Bus triggers notifications to customers or fraud response teams to prevent further losses.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This pipeline dramatically reduces fraud response time and enhances customer trust.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Real-Time Fraud Detection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Customer 360 unifies data from demographics, transactions, login activity, and behavioral analytics.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It provides a full view of a customer’s financial lifecycle, risk levels, and transaction patterns.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Relationship teams use these insights to prioritize high-value customers and improve retention.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Marketing teams use segmentation and behavioral clusters to create personalized campaigns.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The bank gains deeper, data-driven insights to improve customer engagement and service quality.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Customer 360 Insights</a:t>
            </a:r>
            <a:endParaRPr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smtClean="0"/>
              <a:t>CI/CD pipelines automatically deploy </a:t>
            </a:r>
            <a:r>
              <a:rPr lang="en-US" sz="2200" dirty="0" err="1" smtClean="0"/>
              <a:t>Databricks</a:t>
            </a:r>
            <a:r>
              <a:rPr lang="en-US" sz="2200" dirty="0" smtClean="0"/>
              <a:t> notebooks, Azure Function Apps, SQL scripts, and infrastructure templates across Dev, Test, and Production, ensuring consistent, error-free releases without manual intervention.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/>
              <a:t>The pipelines validate code, apply environment-specific settings, and use approval gates for secure promotion, enabling zero-downtime updates, version control, and reliable governance for the entire banking data platform.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CI/CD Automation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Power BI consumes </a:t>
            </a:r>
            <a:r>
              <a:rPr lang="en-US" sz="2000" dirty="0" err="1" smtClean="0"/>
              <a:t>curated</a:t>
            </a:r>
            <a:r>
              <a:rPr lang="en-US" sz="2000" dirty="0" smtClean="0"/>
              <a:t> Gold datasets from SQL Data Warehouse and Delta Lake to deliver real-time dashboards for ATM activity, UPI transactions, fraud alerts, and Customer 360 insights, enabling fast and accurate decision-making.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Regulatory and compliance dashboards automate RBI reporting while row-level security ensures only authorized users access sensitive data, reducing manual reporting effort and strengthening governance and operational transparency.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/>
              <a:t>Power BI Reporting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smtClean="0"/>
              <a:t>Handling extremely high-volume UPI transactions and ATM logs while ensuring real-time processing speed and data accuracy.</a:t>
            </a:r>
          </a:p>
          <a:p>
            <a:pPr algn="just">
              <a:lnSpc>
                <a:spcPct val="150000"/>
              </a:lnSpc>
            </a:pPr>
            <a:r>
              <a:rPr lang="en-US" sz="2600" dirty="0" smtClean="0"/>
              <a:t>Reconciling inconsistent schemas and data problems arising from multiple legacy banking systems with varying formats.</a:t>
            </a:r>
          </a:p>
          <a:p>
            <a:pPr algn="just">
              <a:lnSpc>
                <a:spcPct val="150000"/>
              </a:lnSpc>
            </a:pPr>
            <a:r>
              <a:rPr lang="en-US" sz="2600" dirty="0" smtClean="0"/>
              <a:t>Building a fraud detection engine that can identify suspicious patterns within seconds, even under heavy load.</a:t>
            </a:r>
          </a:p>
          <a:p>
            <a:pPr algn="just">
              <a:lnSpc>
                <a:spcPct val="150000"/>
              </a:lnSpc>
            </a:pPr>
            <a:r>
              <a:rPr lang="en-US" sz="2600" dirty="0" smtClean="0"/>
              <a:t>Maintaining strict security and privacy controls for sensitive financial data across multiple distributed Azure services.</a:t>
            </a:r>
          </a:p>
          <a:p>
            <a:pPr algn="just">
              <a:lnSpc>
                <a:spcPct val="150000"/>
              </a:lnSpc>
            </a:pPr>
            <a:r>
              <a:rPr lang="en-US" sz="2600" dirty="0" smtClean="0"/>
              <a:t>Ensuring constant high availability, zero downtime upgrades, and uninterrupted service during peak transaction hours.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Data from ATM, UPI, mobile banking, and core banking systems is ingested through Event Grid and Function Apps into ADLS and Cosmos DB, and then processed using </a:t>
            </a:r>
            <a:r>
              <a:rPr lang="en-US" sz="2400" dirty="0" err="1" smtClean="0"/>
              <a:t>Databricks</a:t>
            </a:r>
            <a:r>
              <a:rPr lang="en-US" sz="2400" dirty="0" smtClean="0"/>
              <a:t> </a:t>
            </a:r>
            <a:r>
              <a:rPr lang="en-US" sz="2400" dirty="0" err="1" smtClean="0"/>
              <a:t>PySpark</a:t>
            </a:r>
            <a:r>
              <a:rPr lang="en-US" sz="2400" dirty="0" smtClean="0"/>
              <a:t> to create Bronze, Silver, and Gold Delta Lake layers for analytics.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 smtClean="0"/>
              <a:t>Curated</a:t>
            </a:r>
            <a:r>
              <a:rPr lang="en-US" sz="2400" dirty="0" smtClean="0"/>
              <a:t> Gold data is loaded into SQL DW and visualized in Power BI dashboards, while CI/CD automation manages deployments and monitoring ensures reliability, creating a fully secure, real-time, end-to-end banking analytics platform.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End-to-End Process Summary 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7913"/>
            <a:ext cx="7162800" cy="373711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476805"/>
          </a:xfr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148</TotalTime>
  <Words>1461</Words>
  <Application>Microsoft Macintosh PowerPoint</Application>
  <PresentationFormat>On-screen Show (4:3)</PresentationFormat>
  <Paragraphs>105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INTRODUCTION</vt:lpstr>
      <vt:lpstr>Objective</vt:lpstr>
      <vt:lpstr>Primary Goals </vt:lpstr>
      <vt:lpstr>Architecture Overview </vt:lpstr>
      <vt:lpstr>Source Systems</vt:lpstr>
      <vt:lpstr>Ingestion Layer</vt:lpstr>
      <vt:lpstr>Function App Deployment </vt:lpstr>
      <vt:lpstr>Cosmos DB as Operational Store </vt:lpstr>
      <vt:lpstr>Databricks Setup</vt:lpstr>
      <vt:lpstr>PySpark Transformation</vt:lpstr>
      <vt:lpstr>Delta Lake Architecture </vt:lpstr>
      <vt:lpstr>Data Warehouse </vt:lpstr>
      <vt:lpstr>Real-Time Fraud Detection</vt:lpstr>
      <vt:lpstr>Customer 360 Insights</vt:lpstr>
      <vt:lpstr>CI/CD Automation</vt:lpstr>
      <vt:lpstr>Power BI Reporting</vt:lpstr>
      <vt:lpstr>Challenges</vt:lpstr>
      <vt:lpstr>End-to-End Process Summary 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MANISHA</dc:creator>
  <dc:description>generated using python-pptx</dc:description>
  <cp:lastModifiedBy>SDS</cp:lastModifiedBy>
  <cp:revision>11</cp:revision>
  <dcterms:created xsi:type="dcterms:W3CDTF">2013-01-27T09:14:16Z</dcterms:created>
  <dcterms:modified xsi:type="dcterms:W3CDTF">2025-12-10T05:07:35Z</dcterms:modified>
</cp:coreProperties>
</file>